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4" r:id="rId1"/>
  </p:sldMasterIdLst>
  <p:notesMasterIdLst>
    <p:notesMasterId r:id="rId18"/>
  </p:notesMasterIdLst>
  <p:sldIdLst>
    <p:sldId id="256" r:id="rId2"/>
    <p:sldId id="330" r:id="rId3"/>
    <p:sldId id="335" r:id="rId4"/>
    <p:sldId id="338" r:id="rId5"/>
    <p:sldId id="337" r:id="rId6"/>
    <p:sldId id="340" r:id="rId7"/>
    <p:sldId id="342" r:id="rId8"/>
    <p:sldId id="343" r:id="rId9"/>
    <p:sldId id="339" r:id="rId10"/>
    <p:sldId id="341" r:id="rId11"/>
    <p:sldId id="344" r:id="rId12"/>
    <p:sldId id="345" r:id="rId13"/>
    <p:sldId id="336" r:id="rId14"/>
    <p:sldId id="346" r:id="rId15"/>
    <p:sldId id="333" r:id="rId16"/>
    <p:sldId id="27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51503" autoAdjust="0"/>
  </p:normalViewPr>
  <p:slideViewPr>
    <p:cSldViewPr snapToGrid="0">
      <p:cViewPr varScale="1">
        <p:scale>
          <a:sx n="42" d="100"/>
          <a:sy n="42" d="100"/>
        </p:scale>
        <p:origin x="2592" y="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ADABDC-50AF-4BC4-ACE3-B4D8B4024E9F}" type="datetimeFigureOut">
              <a:rPr lang="uk-UA" smtClean="0"/>
              <a:t>13.05.2026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739B4-E93C-4E69-A9A4-33FCA073554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056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3764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90AC4-3A80-6FE2-9475-8ADBCCA6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BB77299-F38C-4693-4447-C138EA991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365C887-6109-40DC-C6CC-468CCF9B0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0AB2856-13F7-4A9C-3692-1B663FE9B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1544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52F8A-9393-5CE2-98B4-F1D6BE95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D633717-C92A-37CA-EF29-9C332398E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0662C88-0B1E-7A1F-88C8-825344FD5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270699C-72A7-954D-A06E-BC88066CD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441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C5C70-8DC1-C0F5-8385-2DC37621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CD09014-DBEB-5C20-4926-3498A99DC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740BC2F-A8CC-4E09-D2D3-BFC3C13D4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691B962-F56C-E2BA-FABE-279F3042B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7334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C16D9-93C1-D565-618B-8584DD0E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701AAAC-9B97-884F-5F50-A34D13A93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0EE8F34-3A00-7216-EB95-1DF1E329C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7759801-813D-7BF5-A0A2-6BEE91E19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0893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474A3-0549-7630-9BEF-666033A34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5446653-110F-BC41-0D49-3EEE86402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4F3C299-FA88-4495-FBF7-28C0B05F2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9FA85CC-2272-38BE-6D27-AF8D6F60C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381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329B6-CEF8-0817-4055-15ECC1AF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57AAA27-B404-C2D3-D9EE-9C2F77831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1918EDA-4E82-EBDF-EA37-9E487AF9B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6C647C5-8299-BD30-D3DA-13270FE3E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3170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19227-6C87-F324-EF08-3E87CDCC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054791B-9816-5DC3-C4E1-49D2E6B56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D18CFD5-44F4-80EE-B3A1-C268623F0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D31E8DF-FC9B-83CF-2AD9-19EC15F94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36627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532C0-E9E1-4E8F-B38B-DE693EDA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8E6A7C1-E54E-D44F-328A-3490DBBC0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E6BBBCE-0014-51FB-53BC-205010290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F01D2D1-19E0-ED5D-F249-FD7AC9133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8084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597D-D316-A4DB-96EA-D4ECF02B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D0B1C74-39D3-C374-8230-B0ECB732C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0A7D460-39F6-C810-F157-217871784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BAB7665-6E79-43BB-516E-57C58A8A4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2337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7F1D-9503-FA4A-7A46-EDF8212E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F0F4A48-1272-9688-B000-CD19BEF8F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E8DEB1C-01A2-2B81-ADBF-9DE736748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sz="1200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2E1F796-6118-3D1D-E606-6100CA572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1071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1F20-257F-9223-B0DB-2BD98F9E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A693EC3-06D9-A6B4-719B-AFF36EB4A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1678D0A-1B6D-1D25-22F1-8C87E1049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04000F7-55E9-B02A-68BA-59A7246D7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0325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88EFD-03CA-F6E5-8ADE-0E3BF71F7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1EF41F8-E929-8DEA-611D-AD7B367A8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E553FE5-4F2C-ADAC-2B04-906591A2C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B151A90-0A22-6548-01DC-15B0F6A85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7695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F1D4B-AE62-858D-B26F-5B9A6140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DF3B865-8746-50C0-06BB-6E64CFD40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1E57AFC-D68A-86B1-8E8E-0F86035E6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F56CA74-B066-9650-3567-ABB9B498C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08156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739B4-E93C-4E69-A9A4-33FCA073554E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19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59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14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51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7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73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50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55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36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792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559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607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426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665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432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405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06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07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Działanie na </a:t>
            </a:r>
            <a:r>
              <a:rPr lang="pl-PL" b="1" dirty="0" err="1">
                <a:latin typeface="Arial" panose="020B0604020202020204" pitchFamily="34" charset="0"/>
                <a:cs typeface="Arial" panose="020B0604020202020204" pitchFamily="34" charset="0"/>
              </a:rPr>
              <a:t>frameworkach</a:t>
            </a:r>
            <a:endParaRPr lang="uk-UA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l-PL" sz="4800" b="1" dirty="0">
                <a:latin typeface="Arial" panose="020B0604020202020204" pitchFamily="34" charset="0"/>
                <a:cs typeface="Arial" panose="020B0604020202020204" pitchFamily="34" charset="0"/>
              </a:rPr>
              <a:t>JavaScript </a:t>
            </a:r>
            <a:r>
              <a:rPr lang="pl-PL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bac</a:t>
            </a:r>
            <a:r>
              <a:rPr lang="pl-PL" sz="4800" b="1" dirty="0">
                <a:latin typeface="Arial" panose="020B0604020202020204" pitchFamily="34" charset="0"/>
                <a:cs typeface="Arial" panose="020B0604020202020204" pitchFamily="34" charset="0"/>
              </a:rPr>
              <a:t>-end</a:t>
            </a:r>
            <a:endParaRPr lang="uk-UA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az 3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24109D93-CE5C-1215-9C2E-C39B06AD6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56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2513" y="457200"/>
            <a:ext cx="1107730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Node.js i ekosystem </a:t>
            </a:r>
            <a:endParaRPr lang="uk-UA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Architektura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środowiska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uk-UA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asynchroniczny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Event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uk-UA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- Non-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blocking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I/O </a:t>
            </a:r>
            <a:endParaRPr lang="uk-UA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Zarządzanie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pakietami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NPM,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Yarn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, PNPM oraz struktura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node_modules</a:t>
            </a:r>
            <a:endParaRPr lang="uk-UA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- Wydajność i bezpieczeństwo 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Express.js </a:t>
            </a:r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Standard "Unopinionated„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Routing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Middleware</a:t>
            </a:r>
            <a:endParaRPr lang="pl-P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- Obsługa błędów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- REST API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uk-UA" sz="2400" dirty="0"/>
          </a:p>
          <a:p>
            <a:pPr marL="342900" indent="-342900">
              <a:buFontTx/>
              <a:buChar char="-"/>
            </a:pPr>
            <a:endParaRPr lang="en-US" sz="2400" dirty="0"/>
          </a:p>
          <a:p>
            <a:endParaRPr lang="uk-UA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5F63609F-7434-BF22-910B-73CDA8F3E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9D1B0E76-3554-9331-23FB-EA50D54AA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5792" y="170176"/>
            <a:ext cx="2139455" cy="130454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02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B455-189B-4AB6-2066-479C26A6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7E08A47-275A-EC92-7B44-A21245BC4E3C}"/>
              </a:ext>
            </a:extLst>
          </p:cNvPr>
          <p:cNvSpPr txBox="1"/>
          <p:nvPr/>
        </p:nvSpPr>
        <p:spPr>
          <a:xfrm>
            <a:off x="658368" y="603504"/>
            <a:ext cx="455371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</a:t>
            </a:r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 </a:t>
            </a:r>
            <a:endParaRPr lang="uk-UA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Event-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Architecture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to sposób projektowania aplikacji, w których przepływ programu jest kierowany przez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Node.js 15.0.0 - Blog IT i o rekrutacji IT - TeamQuest">
            <a:extLst>
              <a:ext uri="{FF2B5EF4-FFF2-40B4-BE49-F238E27FC236}">
                <a16:creationId xmlns:a16="http://schemas.microsoft.com/office/drawing/2014/main" id="{5E83501A-B228-DFAB-9A3D-22F0FCD82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504" y="170175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3325A027-A0C7-E5CB-BA89-5F29420A7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603504"/>
            <a:ext cx="4828034" cy="1828583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359FEFE2-8E6C-77AB-0284-C7740AA7C398}"/>
              </a:ext>
            </a:extLst>
          </p:cNvPr>
          <p:cNvSpPr txBox="1"/>
          <p:nvPr/>
        </p:nvSpPr>
        <p:spPr>
          <a:xfrm>
            <a:off x="658368" y="2598003"/>
            <a:ext cx="109601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zdarzenia - rzeczy, które się zdarzają, takie jak kliknięcie przycisku przez użytkownika lub otrzymanie wiadomości.</a:t>
            </a: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Model I/O bez blokowania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to podejście programistyczne, które pozwala aplikacjom wykonywać operacje wejściowe i wyjściowe, nie czekając na ich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zakończenie przed przejściem do następnego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Zadania</a:t>
            </a: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Zalety Event-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, Non-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Blocking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I/O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Skalowalność,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Responsywność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Efektywność zasobów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786C0029-F188-9D88-D740-442C09B5B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166610"/>
            <a:ext cx="4834129" cy="2641118"/>
          </a:xfrm>
          <a:prstGeom prst="rect">
            <a:avLst/>
          </a:prstGeom>
        </p:spPr>
      </p:pic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19F8F8CF-9EC6-AE87-24EB-94D5B04C2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57973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FC1D5-5907-0CD9-91C9-78AFFFE0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799054EE-FA33-F698-7D2B-FDC571E62C75}"/>
              </a:ext>
            </a:extLst>
          </p:cNvPr>
          <p:cNvSpPr txBox="1"/>
          <p:nvPr/>
        </p:nvSpPr>
        <p:spPr>
          <a:xfrm>
            <a:off x="804672" y="457200"/>
            <a:ext cx="371246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</a:t>
            </a:r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Pętla zdarzeń Node.js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uk-UA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sposoby obsługi wejścia/wyjścia: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• Blokowanie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• Nieblokowanie</a:t>
            </a:r>
          </a:p>
          <a:p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libuv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i="1" dirty="0">
                <a:latin typeface="Arial" panose="020B0604020202020204" pitchFamily="34" charset="0"/>
                <a:cs typeface="Arial" panose="020B0604020202020204" pitchFamily="34" charset="0"/>
              </a:rPr>
              <a:t>to biblioteka C używana przez Node.js do obsługi: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• wieloplatformowego asynchronicznego wejścia/wyjścia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• pętli zdarzeń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• puli wątków</a:t>
            </a:r>
          </a:p>
          <a:p>
            <a:endParaRPr lang="en-US" dirty="0"/>
          </a:p>
        </p:txBody>
      </p:sp>
      <p:pic>
        <p:nvPicPr>
          <p:cNvPr id="1026" name="Picture 2" descr="Node.js 15.0.0 - Blog IT i o rekrutacji IT - TeamQuest">
            <a:extLst>
              <a:ext uri="{FF2B5EF4-FFF2-40B4-BE49-F238E27FC236}">
                <a16:creationId xmlns:a16="http://schemas.microsoft.com/office/drawing/2014/main" id="{3B010683-425F-ADA9-EB31-39A1AA214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504" y="170175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5EE87C52-A156-9BA6-126A-31F9E4E2B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 descr="diagram">
            <a:extLst>
              <a:ext uri="{FF2B5EF4-FFF2-40B4-BE49-F238E27FC236}">
                <a16:creationId xmlns:a16="http://schemas.microsoft.com/office/drawing/2014/main" id="{C84712CD-6842-6AAC-D8CC-FC10213AD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320" y="1188720"/>
            <a:ext cx="7753281" cy="538252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6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1752D-09BA-8202-7B18-9AFF452BB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67CBA4DF-4538-A731-B0FF-9FA9BBA8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C5325295-CD60-621F-2547-9B6683C89305}"/>
              </a:ext>
            </a:extLst>
          </p:cNvPr>
          <p:cNvSpPr txBox="1"/>
          <p:nvPr/>
        </p:nvSpPr>
        <p:spPr>
          <a:xfrm>
            <a:off x="829056" y="685653"/>
            <a:ext cx="10533888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Non-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blocking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I/O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I/O odnosi się przede wszystkim do interakcji z dyskiem systemu i Sieć obsługiwana przez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libuv</a:t>
            </a:r>
            <a:endParaRPr lang="pl-PL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Kiedy Node.js widzi operację I/O:  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fs.readFile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("test.txt", callback)</a:t>
            </a:r>
            <a:endParaRPr lang="pl-PL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1) deleguje ją do systemu operacyjnego/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libuv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2) NIE czeka,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3) wykonuje dalszy kod,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4) po zakończeniu I/O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callback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trafia do Event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l-PL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fs.readFile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('plik.txt', (err, data) =&gt; {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console.log(data) 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console.log('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idę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dalej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!') </a:t>
            </a:r>
            <a:endParaRPr lang="pl-PL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pic>
        <p:nvPicPr>
          <p:cNvPr id="1026" name="Picture 2" descr="Node.js 15.0.0 - Blog IT i o rekrutacji IT - TeamQuest">
            <a:extLst>
              <a:ext uri="{FF2B5EF4-FFF2-40B4-BE49-F238E27FC236}">
                <a16:creationId xmlns:a16="http://schemas.microsoft.com/office/drawing/2014/main" id="{96A44958-2BA3-C117-0DA5-F1CD46565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504" y="170175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786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B85B-C331-6D68-E59F-EA15B3374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2BBAE654-7386-C9A9-AE41-A325658ACF8F}"/>
              </a:ext>
            </a:extLst>
          </p:cNvPr>
          <p:cNvSpPr txBox="1"/>
          <p:nvPr/>
        </p:nvSpPr>
        <p:spPr>
          <a:xfrm>
            <a:off x="829056" y="685653"/>
            <a:ext cx="105338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Non-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blocking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I/O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Node.js używa jednego wątku JS, ale operacje I/O (dysk, sieć, baza) oddelegowuje do systemu operacyjnego lub puli wątków 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libuv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Node.js 15.0.0 - Blog IT i o rekrutacji IT - TeamQuest">
            <a:extLst>
              <a:ext uri="{FF2B5EF4-FFF2-40B4-BE49-F238E27FC236}">
                <a16:creationId xmlns:a16="http://schemas.microsoft.com/office/drawing/2014/main" id="{B09DCCC4-759A-46FC-D211-758385B3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504" y="170175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73033E2-0FC8-6670-E7EE-41601EC8F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786" y="2316870"/>
            <a:ext cx="5115461" cy="4370956"/>
          </a:xfrm>
          <a:prstGeom prst="rect">
            <a:avLst/>
          </a:prstGeom>
        </p:spPr>
      </p:pic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47556F74-B5E5-0B13-460A-837E05A3A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D67FB633-7706-59F1-6103-84A01E551BFD}"/>
              </a:ext>
            </a:extLst>
          </p:cNvPr>
          <p:cNvSpPr txBox="1"/>
          <p:nvPr/>
        </p:nvSpPr>
        <p:spPr>
          <a:xfrm>
            <a:off x="829056" y="2316869"/>
            <a:ext cx="59607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kluczowe mechanizmy wewnątrz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libuv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Pula wątków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- używana do operacji, które nie mają prawdziwie asynchronicznego API w systemie operacyjnym</a:t>
            </a:r>
          </a:p>
          <a:p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Async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I/O przez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sieć (TCP, UDP), potoki, sygnały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207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B9EA-C681-C940-0618-2FD41ED1D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70B49B6F-2173-01ED-B4AF-189BD86FCD55}"/>
              </a:ext>
            </a:extLst>
          </p:cNvPr>
          <p:cNvSpPr txBox="1"/>
          <p:nvPr/>
        </p:nvSpPr>
        <p:spPr>
          <a:xfrm>
            <a:off x="829056" y="685653"/>
            <a:ext cx="1053388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Non-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blocking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I/O</a:t>
            </a:r>
          </a:p>
        </p:txBody>
      </p:sp>
      <p:pic>
        <p:nvPicPr>
          <p:cNvPr id="1026" name="Picture 2" descr="Node.js 15.0.0 - Blog IT i o rekrutacji IT - TeamQuest">
            <a:extLst>
              <a:ext uri="{FF2B5EF4-FFF2-40B4-BE49-F238E27FC236}">
                <a16:creationId xmlns:a16="http://schemas.microsoft.com/office/drawing/2014/main" id="{01E51DE2-5280-04B6-2B96-48526E960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504" y="170175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FA0C221D-33D9-1E7C-7423-D7E06B2CF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341FD65-CEB1-1823-8B74-75F43F742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413585"/>
            <a:ext cx="6487383" cy="284378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8A789BDD-34F9-B57F-3664-1BE4850C5BB5}"/>
              </a:ext>
            </a:extLst>
          </p:cNvPr>
          <p:cNvSpPr txBox="1"/>
          <p:nvPr/>
        </p:nvSpPr>
        <p:spPr>
          <a:xfrm>
            <a:off x="658368" y="4102502"/>
            <a:ext cx="90891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Kolejki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microtask vs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macrotask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console.log('1') 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setTimeout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(() =&gt; console.log('4'), 0) 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Promise.resolve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().then(() =&gt; console.log('3')) 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process.nextTick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(() =&gt; console.log('2’)) </a:t>
            </a:r>
            <a:endParaRPr lang="pl-PL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console.log('1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ciąg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dalszy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 </a:t>
            </a:r>
          </a:p>
          <a:p>
            <a:endParaRPr lang="en-US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CD3551E-5834-FC2D-C719-288D2B54C6FF}"/>
              </a:ext>
            </a:extLst>
          </p:cNvPr>
          <p:cNvSpPr txBox="1"/>
          <p:nvPr/>
        </p:nvSpPr>
        <p:spPr>
          <a:xfrm>
            <a:off x="6912865" y="1477593"/>
            <a:ext cx="55595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cap="all" dirty="0" err="1">
                <a:latin typeface="Arial" panose="020B0604020202020204" pitchFamily="34" charset="0"/>
                <a:cs typeface="Arial" panose="020B0604020202020204" pitchFamily="34" charset="0"/>
              </a:rPr>
              <a:t>Blokuje</a:t>
            </a:r>
            <a:r>
              <a:rPr lang="en-US" sz="2400" cap="all" dirty="0">
                <a:latin typeface="Arial" panose="020B0604020202020204" pitchFamily="34" charset="0"/>
                <a:cs typeface="Arial" panose="020B0604020202020204" pitchFamily="34" charset="0"/>
              </a:rPr>
              <a:t> event loop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 obj = 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JSON.parse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wielkiString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 (let 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1e9;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endParaRPr lang="pl-PL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255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F3945-4895-9B4C-4FF9-940C09BD9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9551749-DC0B-D607-498A-CFAE6198A610}"/>
              </a:ext>
            </a:extLst>
          </p:cNvPr>
          <p:cNvSpPr txBox="1"/>
          <p:nvPr/>
        </p:nvSpPr>
        <p:spPr>
          <a:xfrm>
            <a:off x="829056" y="685653"/>
            <a:ext cx="1053388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Non-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blocking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I/O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składnia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dirty="0"/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async/await</a:t>
            </a:r>
            <a:endParaRPr lang="pl-PL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fs.readFile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(a, (err, d) =&gt; parse(d, (err2, r) =&gt; ...))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(a).then(parse).then(process)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async function run() {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const data = await 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const result = await parse(data)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pl-P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Node.js 15.0.0 - Blog IT i o rekrutacji IT - TeamQuest">
            <a:extLst>
              <a:ext uri="{FF2B5EF4-FFF2-40B4-BE49-F238E27FC236}">
                <a16:creationId xmlns:a16="http://schemas.microsoft.com/office/drawing/2014/main" id="{B692C887-9B1E-C743-2D86-C1F43FD1B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504" y="170175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990A2CB1-C103-F261-8844-7E470FC55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2075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4647-8A08-9E20-0D7A-565AE4BB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15E40388-BABF-60CC-8AD3-30C037C5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B1FBA75-3CAE-FBF3-7EC6-198BDC1EAFD9}"/>
              </a:ext>
            </a:extLst>
          </p:cNvPr>
          <p:cNvSpPr txBox="1"/>
          <p:nvPr/>
        </p:nvSpPr>
        <p:spPr>
          <a:xfrm>
            <a:off x="829056" y="685653"/>
            <a:ext cx="1053388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Non-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blocking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I/O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Blocking I/O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- Program czeka aż operacja się skończy</a:t>
            </a:r>
          </a:p>
          <a:p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data =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fs.readFileSync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("test.txt");</a:t>
            </a:r>
          </a:p>
          <a:p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data.toString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console.log("Koniec programu");</a:t>
            </a:r>
          </a:p>
          <a:p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***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Non-blocking I/O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Program zleca operację i pracuje dalej.</a:t>
            </a:r>
            <a:endParaRPr lang="pl-P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fs.readFile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("test.txt", (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data) =&gt; {</a:t>
            </a:r>
          </a:p>
          <a:p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console.log(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data.toString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console.log("Koniec programu");</a:t>
            </a:r>
          </a:p>
        </p:txBody>
      </p:sp>
      <p:pic>
        <p:nvPicPr>
          <p:cNvPr id="1026" name="Picture 2" descr="Node.js 15.0.0 - Blog IT i o rekrutacji IT - TeamQuest">
            <a:extLst>
              <a:ext uri="{FF2B5EF4-FFF2-40B4-BE49-F238E27FC236}">
                <a16:creationId xmlns:a16="http://schemas.microsoft.com/office/drawing/2014/main" id="{C6C69B46-EA09-360C-13BB-07653B3BD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504" y="170175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022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9ED03-4FDF-F54E-D971-DEBF4DAC8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8EF1ECA0-A031-6292-1609-832F6FAD3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2B2EC7A7-D687-A5B7-F1F4-79D490C2F360}"/>
              </a:ext>
            </a:extLst>
          </p:cNvPr>
          <p:cNvSpPr txBox="1"/>
          <p:nvPr/>
        </p:nvSpPr>
        <p:spPr>
          <a:xfrm>
            <a:off x="829056" y="685653"/>
            <a:ext cx="1053388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Zarządzanie pakietami NPM,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Yarn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, PNPM oraz struktura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node_modules</a:t>
            </a:r>
            <a:endParaRPr lang="pl-P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folder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node_modules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jest niezbędnym elementem ekosystemu Node.js</a:t>
            </a: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Struktura folderu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node_modules</a:t>
            </a:r>
            <a:endParaRPr lang="pl-P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Każda zależność jest zainstalowana wewnątrz </a:t>
            </a:r>
          </a:p>
          <a:p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node_modules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 swoim własnym folderze</a:t>
            </a: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Optymalizacja folderu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node_modules</a:t>
            </a:r>
            <a:endParaRPr lang="pl-P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Folder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node_modules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 może szybko rosnąć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i zawierać tysiące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plików; jego rozmiar może stać się problemem, jeśli nie zostanie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prawidłowo obsługiwany</a:t>
            </a: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Dobrze zdefiniowany plik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package.json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Node.js 15.0.0 - Blog IT i o rekrutacji IT - TeamQuest">
            <a:extLst>
              <a:ext uri="{FF2B5EF4-FFF2-40B4-BE49-F238E27FC236}">
                <a16:creationId xmlns:a16="http://schemas.microsoft.com/office/drawing/2014/main" id="{CF6833FE-FFF9-1522-7F94-08E4D6452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257" y="27804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6538B80B-987F-C1B7-5ADF-526AC83B2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818" y="2244699"/>
            <a:ext cx="2239429" cy="458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89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33ED-62E0-23C5-1194-E27C9E9D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B1D938D6-D2A0-6622-AF25-83A952FD0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0410E10A-0486-3E56-DADA-13E44B7CB8B2}"/>
              </a:ext>
            </a:extLst>
          </p:cNvPr>
          <p:cNvSpPr txBox="1"/>
          <p:nvPr/>
        </p:nvSpPr>
        <p:spPr>
          <a:xfrm>
            <a:off x="829056" y="685653"/>
            <a:ext cx="1053388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Zarządzanie pakietami NPM,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Yarn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, PNPM oraz struktura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node_modules</a:t>
            </a:r>
            <a:endParaRPr lang="pl-P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Node.js 15.0.0 - Blog IT i o rekrutacji IT - TeamQuest">
            <a:extLst>
              <a:ext uri="{FF2B5EF4-FFF2-40B4-BE49-F238E27FC236}">
                <a16:creationId xmlns:a16="http://schemas.microsoft.com/office/drawing/2014/main" id="{EBE7CE86-2FAD-A7AF-1F94-6916C3CC7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257" y="27804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E5275A0C-3ECC-5013-499D-5ADB3900A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41" y="1559750"/>
            <a:ext cx="3074316" cy="5062812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6130C83F-9BD4-F5C6-8640-F1C7E5E88B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454" y="1559750"/>
            <a:ext cx="3029713" cy="5062812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B488E054-78F2-1B52-35E0-E55072B0D1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7164" y="1559750"/>
            <a:ext cx="3074316" cy="5069926"/>
          </a:xfrm>
          <a:prstGeom prst="rect">
            <a:avLst/>
          </a:prstGeom>
        </p:spPr>
      </p:pic>
      <p:pic>
        <p:nvPicPr>
          <p:cNvPr id="2" name="Obraz 1" descr="PNPM vs. NPM vs. Włóczka Co powinienem wybrać w 2024 roku">
            <a:extLst>
              <a:ext uri="{FF2B5EF4-FFF2-40B4-BE49-F238E27FC236}">
                <a16:creationId xmlns:a16="http://schemas.microsoft.com/office/drawing/2014/main" id="{D9A93607-0EA2-C182-E453-420749C47E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7738" y="5514499"/>
            <a:ext cx="2344262" cy="13156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35061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3BF79-7B55-4D06-75C8-2FABD58A0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D81F2290-0221-4FCE-C458-044D8ED0F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92103A5C-316D-37E2-5D13-28ED40DB61D3}"/>
              </a:ext>
            </a:extLst>
          </p:cNvPr>
          <p:cNvSpPr txBox="1"/>
          <p:nvPr/>
        </p:nvSpPr>
        <p:spPr>
          <a:xfrm>
            <a:off x="829056" y="685653"/>
            <a:ext cx="1053388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środowiska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Zarządzanie pakietami NPM,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Yarn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, PNPM oraz struktura </a:t>
            </a:r>
            <a:r>
              <a:rPr lang="pl-PL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node_modules</a:t>
            </a:r>
            <a:endParaRPr lang="pl-P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PNPM → Najszybsze instalacje, ścisłe zależności,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monorepozycje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szybkość CI/CD.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wzmacnia łączenie obszarów roboczych, izolację zależności i wydajność dużych repozytoriów wielopakietowych, co czyni go wysoce niezawodnym wyborem</a:t>
            </a:r>
          </a:p>
          <a:p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Yarn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→ Brak instalacji,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PnP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powtarzalne środowiska, ekosystem wtyczek.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bazuje na technologii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Plug’n’Play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PnP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), zapewniając szybsze rozwiązywanie pakietów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NPM → Maksymalna kompatybilność, najprostszy zestaw narzędzi, istniejące przepływy pracy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koncentruje się na poprawie niezawodności i bezpieczeństwa bez naruszania długoletnich gwarancji zgodności</a:t>
            </a:r>
            <a:endParaRPr lang="pl-P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Node.js 15.0.0 - Blog IT i o rekrutacji IT - TeamQuest">
            <a:extLst>
              <a:ext uri="{FF2B5EF4-FFF2-40B4-BE49-F238E27FC236}">
                <a16:creationId xmlns:a16="http://schemas.microsoft.com/office/drawing/2014/main" id="{226593CF-68FA-60CF-BF7C-DAAE967A1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257" y="27804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raz 1" descr="PNPM vs. NPM vs. Włóczka Co powinienem wybrać w 2024 roku">
            <a:extLst>
              <a:ext uri="{FF2B5EF4-FFF2-40B4-BE49-F238E27FC236}">
                <a16:creationId xmlns:a16="http://schemas.microsoft.com/office/drawing/2014/main" id="{A8F1C4C7-B73D-2AD3-3C6C-F06150A4A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7738" y="5514499"/>
            <a:ext cx="2344262" cy="13156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0794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66EBF-3B27-5ADA-A302-69228B0B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02CAF56F-33EE-A6EA-D044-C0ECC741D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2" descr="Node.js 15.0.0 - Blog IT i o rekrutacji IT - TeamQuest">
            <a:extLst>
              <a:ext uri="{FF2B5EF4-FFF2-40B4-BE49-F238E27FC236}">
                <a16:creationId xmlns:a16="http://schemas.microsoft.com/office/drawing/2014/main" id="{C71E0C02-B294-E478-F1FE-912260A48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944" y="170175"/>
            <a:ext cx="2066303" cy="125994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20286F27-9E5F-5747-409A-7A369FB2C11C}"/>
              </a:ext>
            </a:extLst>
          </p:cNvPr>
          <p:cNvSpPr txBox="1"/>
          <p:nvPr/>
        </p:nvSpPr>
        <p:spPr>
          <a:xfrm>
            <a:off x="603504" y="493776"/>
            <a:ext cx="1101499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Node.js i ekosystem </a:t>
            </a:r>
            <a:endParaRPr lang="uk-UA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Wydajność i bezpieczeństwo</a:t>
            </a:r>
          </a:p>
          <a:p>
            <a:pPr marL="342900" indent="-342900">
              <a:buFontTx/>
              <a:buChar char="-"/>
            </a:pP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jednowątkowej pętli zdarzeń z nieblokującym I/O</a:t>
            </a:r>
          </a:p>
          <a:p>
            <a:pPr marL="342900" indent="-342900">
              <a:buFontTx/>
              <a:buChar char="-"/>
            </a:pP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unikać ciężkich obliczeń CPU w głównym wątku </a:t>
            </a:r>
          </a:p>
          <a:p>
            <a:pPr marL="342900" indent="-342900">
              <a:buFontTx/>
              <a:buChar char="-"/>
            </a:pP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korzystać z: asynchronicznego I/O, cache, skalowania poziomego i monitorowania metryk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asynchroniczność i reaktywność – serwery zbudowane za pomocą Node.js funkcjonują, nie czekając na odpowiedzi z interfejsów API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Silnik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Google Chrome: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kompiluje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JavaScript do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maszynowego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bardzo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szybkie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wykonywanie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kodu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skalowalność – równoległe żądania mogą być bardzo wydajnie obsługiwane przy użyciu Node.js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kompatybilność na różnych platformach – różne typy systemów, takie jak Windows, UNIX, LINUX,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MacOS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jak i urządzenia mobilne są w stanie z powodzeniem korzystać z Node.js.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479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AE8B-12C9-B5E9-F862-6783C9F5D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EAE0C0AA-3ECD-0B14-D225-492922683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2" descr="Node.js 15.0.0 - Blog IT i o rekrutacji IT - TeamQuest">
            <a:extLst>
              <a:ext uri="{FF2B5EF4-FFF2-40B4-BE49-F238E27FC236}">
                <a16:creationId xmlns:a16="http://schemas.microsoft.com/office/drawing/2014/main" id="{24E0B279-AF4B-782C-791E-CCEFB3E8A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944" y="170175"/>
            <a:ext cx="2066303" cy="125994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830A85B7-494D-6EFD-F305-368D639FF83B}"/>
              </a:ext>
            </a:extLst>
          </p:cNvPr>
          <p:cNvSpPr txBox="1"/>
          <p:nvPr/>
        </p:nvSpPr>
        <p:spPr>
          <a:xfrm>
            <a:off x="603504" y="548640"/>
            <a:ext cx="1101499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Architektura Node.js i ekosystem </a:t>
            </a:r>
            <a:endParaRPr lang="uk-UA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Wydajność i bezpieczeństwo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1. Konfiguracja Node.js.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2. Obsługa błędów (error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handling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3. Wykonanie kodu przesłanego w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parametrach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POST lub GET do funkcji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eval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4. Global Namespace Pollution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Systemy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szablonów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az 3" descr="https://sekurak.pl/wp-content/uploads/2013/08/nodejseventloop.png">
            <a:extLst>
              <a:ext uri="{FF2B5EF4-FFF2-40B4-BE49-F238E27FC236}">
                <a16:creationId xmlns:a16="http://schemas.microsoft.com/office/drawing/2014/main" id="{17D0DEE4-9C88-051C-46BF-A350C914C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488" y="170175"/>
            <a:ext cx="5094512" cy="3219512"/>
          </a:xfrm>
          <a:prstGeom prst="rect">
            <a:avLst/>
          </a:prstGeom>
        </p:spPr>
      </p:pic>
      <p:pic>
        <p:nvPicPr>
          <p:cNvPr id="5" name="Obraz 4" descr="https://sekurak.pl/wp-content/uploads/2013/08/spaapp.png">
            <a:extLst>
              <a:ext uri="{FF2B5EF4-FFF2-40B4-BE49-F238E27FC236}">
                <a16:creationId xmlns:a16="http://schemas.microsoft.com/office/drawing/2014/main" id="{44935DFD-04E4-0507-AA5E-08B1AF28BE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488" y="3569960"/>
            <a:ext cx="5094512" cy="328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80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A284A-F55C-23E6-FB94-2476AF53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DE877-F2D8-74D1-1FC5-4818EF700CC9}"/>
              </a:ext>
            </a:extLst>
          </p:cNvPr>
          <p:cNvSpPr txBox="1"/>
          <p:nvPr/>
        </p:nvSpPr>
        <p:spPr>
          <a:xfrm>
            <a:off x="522513" y="457200"/>
            <a:ext cx="11077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 dirty="0"/>
              <a:t> </a:t>
            </a:r>
            <a:endParaRPr lang="uk-UA" sz="2400" b="1" dirty="0"/>
          </a:p>
        </p:txBody>
      </p:sp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7434A234-A2BC-DF6D-F8FE-A94DEE618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2" descr="Node.js 15.0.0 - Blog IT i o rekrutacji IT - TeamQuest">
            <a:extLst>
              <a:ext uri="{FF2B5EF4-FFF2-40B4-BE49-F238E27FC236}">
                <a16:creationId xmlns:a16="http://schemas.microsoft.com/office/drawing/2014/main" id="{6996DF87-2F67-C4A7-0DD1-72CF777D7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7232" y="170176"/>
            <a:ext cx="2048015" cy="124879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42079AA-B3E4-F825-8934-041537BE0C2D}"/>
              </a:ext>
            </a:extLst>
          </p:cNvPr>
          <p:cNvSpPr txBox="1"/>
          <p:nvPr/>
        </p:nvSpPr>
        <p:spPr>
          <a:xfrm>
            <a:off x="522513" y="457200"/>
            <a:ext cx="11146974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Express.js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Express to minimalistyczny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webowy dla Node.js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Standard "Unopinionated</a:t>
            </a:r>
            <a:r>
              <a:rPr lang="pl-PL" sz="24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znaczy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dostajesz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tylko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cienką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warstwę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router + middleware, a 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cała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struktura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projektu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sposób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organizacji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wybór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narzędzi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(ORM,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walidacja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DI, auth, template engine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itd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leży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Twojej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stronie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index.js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express from 'express';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app = express();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app.use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express.json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  <a:endParaRPr lang="pl-P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parsowania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JSON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app.get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('/users', (req, res) =&gt; {  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res.json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([{ id: 1, name: 'Ala' }]);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app.post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('/login', (req, res) =&gt; {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res.json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({ token: 'dummy' });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app.listen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(3000, () =&gt; 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console.log('Server on http://localhost:3000');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  <a:br>
              <a:rPr lang="en-US" sz="2000" b="1" dirty="0"/>
            </a:br>
            <a:endParaRPr lang="pl-PL" sz="2000" b="1" dirty="0"/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74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7517" y="461211"/>
            <a:ext cx="1104097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uk-UA" sz="2800" b="1" dirty="0">
                <a:cs typeface="Arial" panose="020B0604020202020204" pitchFamily="34" charset="0"/>
              </a:rPr>
              <a:t>Spis literatury: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1. Express.js. Tworzenie aplikacji sieciowych w Node.js (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Azat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Mardan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Helion, 2016)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Web Development with Node and Express (Ethan Brown, O'Reilly, 2019, wyd. II)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Full Stack JavaScript (Azat Mardan, Helion, wyd. II)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Node.js Design Patterns (Mario Casciaro, Packt)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Frameworki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JavaScript. Projektowanie interaktywnych i dynamicznych stron WWW (Wojciech Majkowski, Helion, 2014)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Eloquent JavaScript (Marijn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Haverbeke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Learning React (Alex Banks, Eve Porcello, O'Reilly)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8.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React i React Native (Bonnie Eisenman, Helion) 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9.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Angular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w akcji (Jeremy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Wilken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Helion)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10.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Vue.js w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akcji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(Erik Hanchett, Benjamin Schroeter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11. Testowanie aplikacji dla programistów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frontendowych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 (ebookpoint.pl, 2023)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az 3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36B7B99E-32CD-2F44-8DE5-BD87A055E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2" descr="Node.js 15.0.0 - Blog IT i o rekrutacji IT - TeamQuest">
            <a:extLst>
              <a:ext uri="{FF2B5EF4-FFF2-40B4-BE49-F238E27FC236}">
                <a16:creationId xmlns:a16="http://schemas.microsoft.com/office/drawing/2014/main" id="{F9856860-D7A1-2BA5-1DED-C2995DB31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416" y="0"/>
            <a:ext cx="1828559" cy="11149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905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25537</TotalTime>
  <Words>1351</Words>
  <Application>Microsoft Office PowerPoint</Application>
  <PresentationFormat>Panoramiczny</PresentationFormat>
  <Paragraphs>161</Paragraphs>
  <Slides>16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Garamond</vt:lpstr>
      <vt:lpstr>Organic</vt:lpstr>
      <vt:lpstr>Działanie na frameworkach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Lesya</dc:creator>
  <cp:lastModifiedBy>Olesia Nawrocka</cp:lastModifiedBy>
  <cp:revision>368</cp:revision>
  <dcterms:created xsi:type="dcterms:W3CDTF">2019-02-26T17:54:40Z</dcterms:created>
  <dcterms:modified xsi:type="dcterms:W3CDTF">2026-05-13T05:56:40Z</dcterms:modified>
</cp:coreProperties>
</file>